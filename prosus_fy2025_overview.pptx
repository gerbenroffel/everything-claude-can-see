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Prosus N.V.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365760" y="1920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Annual Report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Overview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3246120"/>
            <a:ext cx="457200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342900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US$6.2bn (+21% local currency)</a:t>
            </a:r>
            <a:endParaRPr lang="en-US" sz="1400" dirty="0"/>
          </a:p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aEBIT: US$179m (+100%)</a:t>
            </a:r>
            <a:endParaRPr lang="en-US" sz="1400" dirty="0"/>
          </a:p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Headline Earnings: US$7.4bn (+47%)</a:t>
            </a:r>
            <a:endParaRPr lang="en-US" sz="1400" dirty="0"/>
          </a:p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acquisitions: Despegar &amp; Just Eat Takeaway.com (&gt;US$7bn)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ended 31 March 2025  |  All figures in US dollars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 Highlights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6213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5087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US$6.2bn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+13% YoY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+21% local currency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6213E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aEBIT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0" y="15087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US$179m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00400" y="21031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+100% YoY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-US$118m in FY24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6213E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Headline Earnings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26480" y="15087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US$7.4bn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126480" y="21031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 YoY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52560" y="10972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16213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2560" y="1143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Cash Inflow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052560" y="15087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US$1.0bn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052560" y="21031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US$422m in FY24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aEBIT Turnaround (US$m)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520440"/>
          <a:ext cx="5943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Ecommerce aEBIT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4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aEBIT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(413)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(586)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(381)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(537)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C4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(118)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D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4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6583680" y="3108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Revenue Regions (FY25)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583680" y="35204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Eastern Europe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326880" y="35204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US$2,816m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789920" y="35204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America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326880" y="40233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US$1,572m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789920" y="4023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83680" y="4526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5262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US$718m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0789920" y="452628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83680" y="5029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Europe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9326880" y="50292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US$788m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0789920" y="50292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Segment Performance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05156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16213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38328" y="1143000"/>
            <a:ext cx="3529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(iFood)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8328" y="1673352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US$1.3bn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38328" y="2011680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aEBIT: US$226m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" y="2377440"/>
            <a:ext cx="352958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" y="2468880"/>
            <a:ext cx="35295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+29% 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56M annual active users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105156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16213E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1143000"/>
            <a:ext cx="3529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(OLX)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5968" y="1673352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US$788m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5968" y="2011680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aEBIT: US$273m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15968" y="2377440"/>
            <a:ext cx="3529584" cy="18288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4315968" y="2468880"/>
            <a:ext cx="35295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aEBIT margin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63.6M monthly app users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83880" y="105156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16213E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93608" y="1143000"/>
            <a:ext cx="3529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Fintech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(PayU)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93608" y="1673352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US$1.1bn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93608" y="2011680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aEBIT: -US$31m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93608" y="2377440"/>
            <a:ext cx="3529584" cy="18288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21" name="Text 19"/>
          <p:cNvSpPr/>
          <p:nvPr/>
        </p:nvSpPr>
        <p:spPr>
          <a:xfrm>
            <a:off x="8293608" y="2468880"/>
            <a:ext cx="35295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Improving; H2 momentum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iyzico: +87% local rev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370332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16213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" y="3794760"/>
            <a:ext cx="3529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Etail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(eMAG)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8328" y="4325112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US$2.5bn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" y="4663440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aEBIT: US$14m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" y="5029200"/>
            <a:ext cx="352958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" y="5120640"/>
            <a:ext cx="35295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Turnaround: +US$40m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-US$26m FY24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06240" y="370332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16213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5968" y="3794760"/>
            <a:ext cx="3529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15968" y="4325112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US$170m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15968" y="4663440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aEBIT: -US$33m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5029200"/>
            <a:ext cx="3529584" cy="18288"/>
          </a:xfrm>
          <a:prstGeom prst="rect">
            <a:avLst/>
          </a:prstGeom>
          <a:solidFill>
            <a:srgbClr val="B0C4DE"/>
          </a:solidFill>
          <a:ln/>
        </p:spPr>
      </p:sp>
      <p:sp>
        <p:nvSpPr>
          <p:cNvPr id="33" name="Text 31"/>
          <p:cNvSpPr/>
          <p:nvPr/>
        </p:nvSpPr>
        <p:spPr>
          <a:xfrm>
            <a:off x="4315968" y="5120640"/>
            <a:ext cx="35295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improved US$65m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cashflow breakeven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83880" y="370332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16213E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93608" y="3794760"/>
            <a:ext cx="3529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Tencent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(23.5% stake)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293608" y="4325112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—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93608" y="4663440"/>
            <a:ext cx="3529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aEBIT: US$5.7bn*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293608" y="5029200"/>
            <a:ext cx="3529584" cy="18288"/>
          </a:xfrm>
          <a:prstGeom prst="rect">
            <a:avLst/>
          </a:prstGeom>
          <a:solidFill>
            <a:srgbClr val="FFB703"/>
          </a:solidFill>
          <a:ln/>
        </p:spPr>
      </p:sp>
      <p:sp>
        <p:nvSpPr>
          <p:cNvPr id="39" name="Text 37"/>
          <p:cNvSpPr/>
          <p:nvPr/>
        </p:nvSpPr>
        <p:spPr>
          <a:xfrm>
            <a:off x="8293608" y="5120640"/>
            <a:ext cx="35295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*Equity accounted results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+41% non-IFRS profit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Outlook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Businesses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9202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Toqan assistant used by 20,000+ staff daily; 11% avg productivity gain. Large Commerce Model (LCM) in development.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306324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Ecosystems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LatAm: &gt;100M customers, &gt;US$25bn GMV. India: Swiggy, PayU, Meesho. Europe: eMAG, OLX, iyzico + Just Eat.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457200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4572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5720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Value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49377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buyback: 11% NAV/share increase; float -27%. Dividend doubled to 20 euro cents. &gt;US$7bn M&amp;A committed.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1005840"/>
            <a:ext cx="36576" cy="55778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00584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FY25 Transactions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09360" y="1554480"/>
            <a:ext cx="5623560" cy="731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1600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Despegar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235440" y="1600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US$1.7bn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46520" y="1920240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travel — closes ecosystem for 100M+ customers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09360" y="2423160"/>
            <a:ext cx="5623560" cy="731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24688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Eat Takeaway.com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3544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€4.1bn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46520" y="2788920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European food delivery; 17 markets, 61M customers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09360" y="3291840"/>
            <a:ext cx="5623560" cy="731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3337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PayU / Mindgate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3337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3657600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payments tech in India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309360" y="4160520"/>
            <a:ext cx="5623560" cy="731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4206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iyzico / Paynet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235440" y="4206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US$87m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46520" y="4526280"/>
            <a:ext cx="5349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expansion in Türkiye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09360" y="516636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 Highlights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309360" y="553212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iFood: 56% customer support automated; fraud chargebacks at 0.1%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OLX Magic: conversational AI buying experience launched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Ventures: US$88m invested in AI startups across 40+ transactions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Prosus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Prosus Investor Relations</dc:creator>
  <cp:lastModifiedBy>Prosus Investor Relations</cp:lastModifiedBy>
  <cp:revision>1</cp:revision>
  <dcterms:created xsi:type="dcterms:W3CDTF">2026-06-25T10:28:36Z</dcterms:created>
  <dcterms:modified xsi:type="dcterms:W3CDTF">2026-06-25T10:28:36Z</dcterms:modified>
</cp:coreProperties>
</file>