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521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228600"/>
            <a:ext cx="219456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46304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 Annual Report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42316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Overview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85800" y="3200400"/>
            <a:ext cx="6858000" cy="2743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3383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US$6.2bn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" y="4023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520440" y="3383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520440" y="4023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Local-currency growth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355080" y="3383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US$179m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355080" y="4023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aEBIT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89720" y="33832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US$7.4bn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9189720" y="4023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headline earnings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4846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year of growth, innovation, disciplined execution and strategic milestones"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5800" y="5394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Fabricio Bloisi, CEO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580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ended 31 March 2025  |  All figures in US dollars unless otherwise stated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46304"/>
            <a:ext cx="9326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Performance Highlights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201168"/>
            <a:ext cx="219456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1051560"/>
            <a:ext cx="2798064" cy="17373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28600" y="1051560"/>
            <a:ext cx="2798064" cy="54864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8" name="Text 5"/>
          <p:cNvSpPr/>
          <p:nvPr/>
        </p:nvSpPr>
        <p:spPr>
          <a:xfrm>
            <a:off x="356616" y="117043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56616" y="1508760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US$6.2bn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56616" y="214884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reported  |  +21% local currency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9544" y="1051560"/>
            <a:ext cx="2798064" cy="17373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9544" y="1051560"/>
            <a:ext cx="2798064" cy="54864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3" name="Text 10"/>
          <p:cNvSpPr/>
          <p:nvPr/>
        </p:nvSpPr>
        <p:spPr>
          <a:xfrm>
            <a:off x="3337560" y="117043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aEBIT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337560" y="1508760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US$179m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3337560" y="214884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−US$118m in FY24 — 100% growth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90488" y="1051560"/>
            <a:ext cx="2798064" cy="17373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90488" y="1051560"/>
            <a:ext cx="2798064" cy="54864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8" name="Text 15"/>
          <p:cNvSpPr/>
          <p:nvPr/>
        </p:nvSpPr>
        <p:spPr>
          <a:xfrm>
            <a:off x="6318504" y="117043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Headline Earnings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318504" y="1508760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US$7.4bn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318504" y="214884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+47% YoY, driven by Tencent &amp; ecommerce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171432" y="1051560"/>
            <a:ext cx="2798064" cy="17373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171432" y="1051560"/>
            <a:ext cx="2798064" cy="54864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23" name="Text 20"/>
          <p:cNvSpPr/>
          <p:nvPr/>
        </p:nvSpPr>
        <p:spPr>
          <a:xfrm>
            <a:off x="9299448" y="117043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Cash Inflow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299448" y="1508760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US$1.0bn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9299448" y="2148840"/>
            <a:ext cx="2542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US$422m in FY24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28600" y="29718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aEBIT Turnaround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228600" y="3383280"/>
            <a:ext cx="5029200" cy="27432"/>
          </a:xfrm>
          <a:prstGeom prst="rect">
            <a:avLst/>
          </a:prstGeom>
          <a:solidFill>
            <a:srgbClr val="E8521A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456432"/>
          <a:ext cx="53035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03120"/>
                <a:gridCol w="21031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5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5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Ecommerce aEBIT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5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 aEBIT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B8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B8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(413)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B8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(586)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B8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B8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(381)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B8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(537)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B8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B8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B8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(118)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B2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B2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B2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</a:tbl>
          </a:graphicData>
        </a:graphic>
      </p:graphicFrame>
      <p:sp>
        <p:nvSpPr>
          <p:cNvPr id="29" name="Text 25"/>
          <p:cNvSpPr/>
          <p:nvPr/>
        </p:nvSpPr>
        <p:spPr>
          <a:xfrm>
            <a:off x="6400800" y="297180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Region (US$m)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6400800" y="3383280"/>
            <a:ext cx="5577840" cy="27432"/>
          </a:xfrm>
          <a:prstGeom prst="rect">
            <a:avLst/>
          </a:prstGeom>
          <a:solidFill>
            <a:srgbClr val="E8521A"/>
          </a:solidFill>
          <a:ln/>
        </p:spPr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3456432"/>
          <a:ext cx="55778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097280"/>
                <a:gridCol w="11887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5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85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85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852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8B8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Eastern Europe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A8B8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A60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2,371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B2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8B8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Latin America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A8B8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1,572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A60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1,495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B2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8B8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Central Europe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A8B8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A60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B2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8B8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A8B8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A60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B2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8B8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North America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A8B8C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4A607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B28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46304"/>
            <a:ext cx="9326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Segment Performance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201168"/>
            <a:ext cx="219456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1168" y="1051560"/>
            <a:ext cx="3794760" cy="251460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01168" y="1051560"/>
            <a:ext cx="3794760" cy="54864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8" name="Text 5"/>
          <p:cNvSpPr/>
          <p:nvPr/>
        </p:nvSpPr>
        <p:spPr>
          <a:xfrm>
            <a:off x="338328" y="11430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Delivery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38328" y="152704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iFood — Brazil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38328" y="18745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029968" y="1874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aEBIT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38328" y="21305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US$1.3bn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029968" y="21305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US$226m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38328" y="25146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+19.1% EBITDA margin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38328" y="2834640"/>
            <a:ext cx="3520440" cy="22860"/>
          </a:xfrm>
          <a:prstGeom prst="rect">
            <a:avLst/>
          </a:prstGeom>
          <a:solidFill>
            <a:srgbClr val="1E355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" y="289864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120M+ monthly orders  |  56M annual users  |  +29% orders YoY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178808" y="1051560"/>
            <a:ext cx="3794760" cy="251460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78808" y="1051560"/>
            <a:ext cx="3794760" cy="54864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9" name="Text 16"/>
          <p:cNvSpPr/>
          <p:nvPr/>
        </p:nvSpPr>
        <p:spPr>
          <a:xfrm>
            <a:off x="4315968" y="11430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315968" y="152704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OLX — 9 markets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15968" y="18745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007608" y="1874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aEBIT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315968" y="21305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US$788m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007608" y="21305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US$273m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315968" y="25146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aEBIT margin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315968" y="2834640"/>
            <a:ext cx="3520440" cy="22860"/>
          </a:xfrm>
          <a:prstGeom prst="rect">
            <a:avLst/>
          </a:prstGeom>
          <a:solidFill>
            <a:srgbClr val="1E3550"/>
          </a:solidFill>
          <a:ln/>
        </p:spPr>
      </p:sp>
      <p:sp>
        <p:nvSpPr>
          <p:cNvPr id="27" name="Text 24"/>
          <p:cNvSpPr/>
          <p:nvPr/>
        </p:nvSpPr>
        <p:spPr>
          <a:xfrm>
            <a:off x="4315968" y="289864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63.6M monthly app users  |  26.8M daily listings  |  Motors +24%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8156448" y="1051560"/>
            <a:ext cx="3794760" cy="251460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156448" y="1051560"/>
            <a:ext cx="3794760" cy="54864"/>
          </a:xfrm>
          <a:prstGeom prst="rect">
            <a:avLst/>
          </a:prstGeom>
          <a:solidFill>
            <a:srgbClr val="4A6070"/>
          </a:solidFill>
          <a:ln/>
        </p:spPr>
      </p:sp>
      <p:sp>
        <p:nvSpPr>
          <p:cNvPr id="30" name="Text 27"/>
          <p:cNvSpPr/>
          <p:nvPr/>
        </p:nvSpPr>
        <p:spPr>
          <a:xfrm>
            <a:off x="8293608" y="11430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&amp; Fintech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8293608" y="152704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PayU — India &amp; Türkiye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293608" y="18745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9985248" y="1874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aEBIT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8293608" y="21305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US$1.1bn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9985248" y="21305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−US$31m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8293608" y="25146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iyzico aEBIT: US$18m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8293608" y="2834640"/>
            <a:ext cx="3520440" cy="22860"/>
          </a:xfrm>
          <a:prstGeom prst="rect">
            <a:avLst/>
          </a:prstGeom>
          <a:solidFill>
            <a:srgbClr val="1E3550"/>
          </a:solidFill>
          <a:ln/>
        </p:spPr>
      </p:sp>
      <p:sp>
        <p:nvSpPr>
          <p:cNvPr id="38" name="Text 35"/>
          <p:cNvSpPr/>
          <p:nvPr/>
        </p:nvSpPr>
        <p:spPr>
          <a:xfrm>
            <a:off x="8293608" y="289864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iyzico +87% local rev  |  India H2 improving  |  Credit book US$558m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01168" y="3749040"/>
            <a:ext cx="3794760" cy="251460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01168" y="3749040"/>
            <a:ext cx="3794760" cy="54864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1" name="Text 38"/>
          <p:cNvSpPr/>
          <p:nvPr/>
        </p:nvSpPr>
        <p:spPr>
          <a:xfrm>
            <a:off x="338328" y="384048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Etail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338328" y="42245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eMAG — CEE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338328" y="45720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2029968" y="45720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aEBIT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338328" y="482803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US$2.5bn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2029968" y="48280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US$14m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338328" y="52120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Turnaround: +US$40m vs FY24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338328" y="5532120"/>
            <a:ext cx="3520440" cy="22860"/>
          </a:xfrm>
          <a:prstGeom prst="rect">
            <a:avLst/>
          </a:prstGeom>
          <a:solidFill>
            <a:srgbClr val="1E3550"/>
          </a:solidFill>
          <a:ln/>
        </p:spPr>
      </p:sp>
      <p:sp>
        <p:nvSpPr>
          <p:cNvPr id="49" name="Text 46"/>
          <p:cNvSpPr/>
          <p:nvPr/>
        </p:nvSpPr>
        <p:spPr>
          <a:xfrm>
            <a:off x="338328" y="559612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Romania aEBIT US$50m  |  GMV +15%  |  Sameday rev +38%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4178808" y="3749040"/>
            <a:ext cx="3794760" cy="251460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178808" y="3749040"/>
            <a:ext cx="3794760" cy="54864"/>
          </a:xfrm>
          <a:prstGeom prst="rect">
            <a:avLst/>
          </a:prstGeom>
          <a:solidFill>
            <a:srgbClr val="4A6070"/>
          </a:solidFill>
          <a:ln/>
        </p:spPr>
      </p:sp>
      <p:sp>
        <p:nvSpPr>
          <p:cNvPr id="52" name="Text 49"/>
          <p:cNvSpPr/>
          <p:nvPr/>
        </p:nvSpPr>
        <p:spPr>
          <a:xfrm>
            <a:off x="4315968" y="384048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Edtech</a:t>
            </a:r>
            <a:endParaRPr lang="en-US" sz="1400" dirty="0"/>
          </a:p>
        </p:txBody>
      </p:sp>
      <p:sp>
        <p:nvSpPr>
          <p:cNvPr id="53" name="Text 50"/>
          <p:cNvSpPr/>
          <p:nvPr/>
        </p:nvSpPr>
        <p:spPr>
          <a:xfrm>
            <a:off x="4315968" y="42245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&amp; India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4315968" y="45720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6007608" y="45720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aEBIT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4315968" y="482803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US$170m</a:t>
            </a:r>
            <a:endParaRPr lang="en-US" sz="1500" dirty="0"/>
          </a:p>
        </p:txBody>
      </p:sp>
      <p:sp>
        <p:nvSpPr>
          <p:cNvPr id="57" name="Text 54"/>
          <p:cNvSpPr/>
          <p:nvPr/>
        </p:nvSpPr>
        <p:spPr>
          <a:xfrm>
            <a:off x="6007608" y="48280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−US$33m</a:t>
            </a:r>
            <a:endParaRPr lang="en-US" sz="1500" dirty="0"/>
          </a:p>
        </p:txBody>
      </p:sp>
      <p:sp>
        <p:nvSpPr>
          <p:cNvPr id="58" name="Text 55"/>
          <p:cNvSpPr/>
          <p:nvPr/>
        </p:nvSpPr>
        <p:spPr>
          <a:xfrm>
            <a:off x="4315968" y="52120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improved US$65m YoY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4315968" y="5532120"/>
            <a:ext cx="3520440" cy="22860"/>
          </a:xfrm>
          <a:prstGeom prst="rect">
            <a:avLst/>
          </a:prstGeom>
          <a:solidFill>
            <a:srgbClr val="1E3550"/>
          </a:solidFill>
          <a:ln/>
        </p:spPr>
      </p:sp>
      <p:sp>
        <p:nvSpPr>
          <p:cNvPr id="60" name="Text 57"/>
          <p:cNvSpPr/>
          <p:nvPr/>
        </p:nvSpPr>
        <p:spPr>
          <a:xfrm>
            <a:off x="4315968" y="559612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cashflow breakeven  |  aEBIT −US$33m vs −US$98m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8156448" y="3749040"/>
            <a:ext cx="3794760" cy="251460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8156448" y="3749040"/>
            <a:ext cx="3794760" cy="54864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63" name="Text 60"/>
          <p:cNvSpPr/>
          <p:nvPr/>
        </p:nvSpPr>
        <p:spPr>
          <a:xfrm>
            <a:off x="8293608" y="384048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Tencent</a:t>
            </a:r>
            <a:endParaRPr lang="en-US" sz="1400" dirty="0"/>
          </a:p>
        </p:txBody>
      </p:sp>
      <p:sp>
        <p:nvSpPr>
          <p:cNvPr id="64" name="Text 61"/>
          <p:cNvSpPr/>
          <p:nvPr/>
        </p:nvSpPr>
        <p:spPr>
          <a:xfrm>
            <a:off x="8293608" y="42245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23.5% associate stake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8293608" y="45720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9985248" y="45720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aEBIT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8293608" y="482803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500" dirty="0"/>
          </a:p>
        </p:txBody>
      </p:sp>
      <p:sp>
        <p:nvSpPr>
          <p:cNvPr id="68" name="Text 65"/>
          <p:cNvSpPr/>
          <p:nvPr/>
        </p:nvSpPr>
        <p:spPr>
          <a:xfrm>
            <a:off x="9985248" y="48280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US$5.7bn*</a:t>
            </a:r>
            <a:endParaRPr lang="en-US" sz="1500" dirty="0"/>
          </a:p>
        </p:txBody>
      </p:sp>
      <p:sp>
        <p:nvSpPr>
          <p:cNvPr id="69" name="Text 66"/>
          <p:cNvSpPr/>
          <p:nvPr/>
        </p:nvSpPr>
        <p:spPr>
          <a:xfrm>
            <a:off x="8293608" y="52120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*Equity accounted results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8293608" y="5532120"/>
            <a:ext cx="3520440" cy="22860"/>
          </a:xfrm>
          <a:prstGeom prst="rect">
            <a:avLst/>
          </a:prstGeom>
          <a:solidFill>
            <a:srgbClr val="1E3550"/>
          </a:solidFill>
          <a:ln/>
        </p:spPr>
      </p:sp>
      <p:sp>
        <p:nvSpPr>
          <p:cNvPr id="71" name="Text 68"/>
          <p:cNvSpPr/>
          <p:nvPr/>
        </p:nvSpPr>
        <p:spPr>
          <a:xfrm>
            <a:off x="8293608" y="5596128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Non-IFRS profit +41%  |  WeChat 1.39bn MAU  |  Dividend US$1.0bn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91440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46304"/>
            <a:ext cx="9326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&amp; Outlook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201168"/>
            <a:ext cx="219456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1024128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Strategic Pillars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28600" y="1435608"/>
            <a:ext cx="5577840" cy="2743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8" name="Shape 5"/>
          <p:cNvSpPr/>
          <p:nvPr/>
        </p:nvSpPr>
        <p:spPr>
          <a:xfrm>
            <a:off x="228600" y="1554480"/>
            <a:ext cx="475488" cy="47548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9" name="Text 6"/>
          <p:cNvSpPr/>
          <p:nvPr/>
        </p:nvSpPr>
        <p:spPr>
          <a:xfrm>
            <a:off x="228600" y="15544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1591056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Businesses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201168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Toqan assistant: 20,000+ daily users, 11% avg productivity gain. Large Commerce Model (LCM) in development. 30+ portfolio companies deploying AI.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28600" y="3154680"/>
            <a:ext cx="475488" cy="47548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3" name="Text 10"/>
          <p:cNvSpPr/>
          <p:nvPr/>
        </p:nvSpPr>
        <p:spPr>
          <a:xfrm>
            <a:off x="228600" y="31546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3191256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Lifestyle Ecosystems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" y="361188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LatAm: &gt;100M customers, &gt;US$25bn GMV (iFood + Despegar + OLX). India: Swiggy, PayU, Meesho, Urban Company. Europe: eMAG, OLX, iyzico + Just Eat.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28600" y="4754880"/>
            <a:ext cx="475488" cy="475488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17" name="Text 14"/>
          <p:cNvSpPr/>
          <p:nvPr/>
        </p:nvSpPr>
        <p:spPr>
          <a:xfrm>
            <a:off x="228600" y="47548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2960" y="4791456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Shareholder Value Creation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22960" y="521208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Buyback: NAV/share +11% since Jun 2022, free float reduced 27%. Dividend doubled to 20¢/share. US$836m invested in ecosystems in FY25.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080760" y="1005840"/>
            <a:ext cx="36576" cy="5669280"/>
          </a:xfrm>
          <a:prstGeom prst="rect">
            <a:avLst/>
          </a:prstGeom>
          <a:solidFill>
            <a:srgbClr val="1E3550"/>
          </a:solidFill>
          <a:ln/>
        </p:spPr>
      </p:sp>
      <p:sp>
        <p:nvSpPr>
          <p:cNvPr id="21" name="Text 18"/>
          <p:cNvSpPr/>
          <p:nvPr/>
        </p:nvSpPr>
        <p:spPr>
          <a:xfrm>
            <a:off x="6263640" y="1024128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FY25 Transactions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263640" y="1435608"/>
            <a:ext cx="5669280" cy="27432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23" name="Shape 20"/>
          <p:cNvSpPr/>
          <p:nvPr/>
        </p:nvSpPr>
        <p:spPr>
          <a:xfrm>
            <a:off x="6263640" y="1554480"/>
            <a:ext cx="5669280" cy="77724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1554480"/>
            <a:ext cx="54864" cy="77724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25" name="Text 22"/>
          <p:cNvSpPr/>
          <p:nvPr/>
        </p:nvSpPr>
        <p:spPr>
          <a:xfrm>
            <a:off x="6446520" y="160934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Despegar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966960" y="16093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US$1.7bn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446520" y="1956816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LatAm travel leader — closes ecosystem for 100M+ customers; closed May 2025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263640" y="2468880"/>
            <a:ext cx="5669280" cy="77724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63640" y="2468880"/>
            <a:ext cx="54864" cy="77724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30" name="Text 27"/>
          <p:cNvSpPr/>
          <p:nvPr/>
        </p:nvSpPr>
        <p:spPr>
          <a:xfrm>
            <a:off x="6446520" y="252374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Eat Takeaway.com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966960" y="25237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€4.1bn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446520" y="2871216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European food delivery; 17 markets, 61M customers, 356K+ partners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263640" y="3383280"/>
            <a:ext cx="5669280" cy="77724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263640" y="3383280"/>
            <a:ext cx="54864" cy="77724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35" name="Text 32"/>
          <p:cNvSpPr/>
          <p:nvPr/>
        </p:nvSpPr>
        <p:spPr>
          <a:xfrm>
            <a:off x="6446520" y="343814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PayU / Mindgate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966960" y="34381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US$68m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446520" y="3785616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payments infrastructure in India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263640" y="4297680"/>
            <a:ext cx="5669280" cy="77724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55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263640" y="4297680"/>
            <a:ext cx="54864" cy="777240"/>
          </a:xfrm>
          <a:prstGeom prst="rect">
            <a:avLst/>
          </a:prstGeom>
          <a:solidFill>
            <a:srgbClr val="E8521A"/>
          </a:solidFill>
          <a:ln/>
        </p:spPr>
      </p:sp>
      <p:sp>
        <p:nvSpPr>
          <p:cNvPr id="40" name="Text 37"/>
          <p:cNvSpPr/>
          <p:nvPr/>
        </p:nvSpPr>
        <p:spPr>
          <a:xfrm>
            <a:off x="6446520" y="435254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iyzico / Paynet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966960" y="43525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US$87m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6446520" y="4700016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network expansion in Türkiye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263640" y="5349240"/>
            <a:ext cx="5669280" cy="1325880"/>
          </a:xfrm>
          <a:prstGeom prst="rect">
            <a:avLst/>
          </a:prstGeom>
          <a:solidFill>
            <a:srgbClr val="243752"/>
          </a:solidFill>
          <a:ln w="12700">
            <a:solidFill>
              <a:srgbClr val="E8521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446520" y="5422392"/>
            <a:ext cx="5349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Adoption in FY25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6446520" y="5760720"/>
            <a:ext cx="5349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iFood: 56% customer support automated; fraud chargebacks 0.1%; support cost −40%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OLX Magic: conversational AI buying experience launched across classifieds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Ventures: US$88m deployed into AI startups across 40+ transactions in FY25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2026-06-25T13:43:52Z</dcterms:created>
  <dcterms:modified xsi:type="dcterms:W3CDTF">2026-06-25T13:43:52Z</dcterms:modified>
</cp:coreProperties>
</file>